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2339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600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0600">
              <a:alpha val="8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640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Meliponá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02920" y="14813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digital de meliponicultores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5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Joinville e Santa Catarina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377440"/>
            <a:ext cx="2743200" cy="0"/>
          </a:xfrm>
          <a:prstGeom prst="line">
            <a:avLst/>
          </a:prstGeom>
          <a:noFill/>
          <a:ln w="19050">
            <a:solidFill>
              <a:srgbClr val="E08A2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5146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Empreendedor — UniSENAI Joinville
</a:t>
            </a: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2026/1  ·  Prof. Emerson Amancio &amp; Tiago Ricaldi
</a:t>
            </a:r>
            <a:r>
              <a:rPr lang="en-US" sz="1200" dirty="0" smtClean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[Ana Paula dos Reis]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D0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Meliponá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Meliponicultores de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Joinville enfrentam 3 dores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2D1A0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8483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Legislação inacessível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35000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do IBAMA, IMA-SC e prefeitura espalhadas, em linguagem técnica, sem atualização. Criadores têm medo de multa.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2D1A0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4495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3017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Isolamento entre criadores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331012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enxames e conhecimento acontece só via WhatsApp informal, sem organização, busca ou histórico.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2D1A0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050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34440" y="3977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canal de venda direta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42702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Mel, propólis e enxames são vendidos a intermediários ou em feiras esporádicas, com preço baixo e sem rastreabilidade.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6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Meliponá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Meliponá — portal web que une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2B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legislação, comunidade e comércio</a:t>
            </a:r>
            <a:endParaRPr lang="en-US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0" y="457200"/>
            <a:ext cx="3383280" cy="4389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0" y="457200"/>
            <a:ext cx="3383280" cy="4389120"/>
          </a:xfrm>
          <a:prstGeom prst="rect">
            <a:avLst/>
          </a:prstGeom>
          <a:solidFill>
            <a:srgbClr val="FAF7F0">
              <a:alpha val="7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920240"/>
            <a:ext cx="46634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1956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 de legislação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" y="2212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do IBAMA e IMA-SC em linguagem simples, com alertas de prazo.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670048"/>
            <a:ext cx="46634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1792" y="2761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97280" y="2706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Comunidade e fórum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7280" y="2962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experiências, manejo e enxames entre criadores da região.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419856"/>
            <a:ext cx="46634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1792" y="3511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97280" y="3456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local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97280" y="37124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direta de mel, propólis e enxames entre meliponicultores de Joinville.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4169664"/>
            <a:ext cx="46634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21792" y="4261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97280" y="4206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Assistente IA (Pro)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97280" y="4462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de manejo e regulamentação, disponível no plano avançado.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6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Meliponá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A0D0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D0600">
              <a:alpha val="5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28600" y="1005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28600" y="129844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Dona Marlene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28600" y="1920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anos · Professora aposentada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Bairro Pirabeiraba, Joinville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931920" y="731520"/>
            <a:ext cx="4937760" cy="1261872"/>
          </a:xfrm>
          <a:prstGeom prst="roundRect">
            <a:avLst>
              <a:gd name="adj" fmla="val 5072"/>
            </a:avLst>
          </a:prstGeom>
          <a:solidFill>
            <a:srgbClr val="FAF7F0"/>
          </a:solidFill>
          <a:ln/>
        </p:spPr>
      </p:sp>
      <p:sp>
        <p:nvSpPr>
          <p:cNvPr id="11" name="Shape 8"/>
          <p:cNvSpPr/>
          <p:nvPr/>
        </p:nvSpPr>
        <p:spPr>
          <a:xfrm>
            <a:off x="3931920" y="73152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5C7A52"/>
          </a:solidFill>
          <a:ln/>
        </p:spPr>
      </p:sp>
      <p:sp>
        <p:nvSpPr>
          <p:cNvPr id="12" name="Text 9"/>
          <p:cNvSpPr/>
          <p:nvPr/>
        </p:nvSpPr>
        <p:spPr>
          <a:xfrm>
            <a:off x="3931920" y="7406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041648" y="1060704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de 8 caixas de jataí no quintal. Participa de grupo de WhatsApp de meliponicultores. Vende mel em feira mensal.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931920" y="2121408"/>
            <a:ext cx="4937760" cy="1261872"/>
          </a:xfrm>
          <a:prstGeom prst="roundRect">
            <a:avLst>
              <a:gd name="adj" fmla="val 5072"/>
            </a:avLst>
          </a:prstGeom>
          <a:solidFill>
            <a:srgbClr val="FAF7F0"/>
          </a:solidFill>
          <a:ln/>
        </p:spPr>
      </p:sp>
      <p:sp>
        <p:nvSpPr>
          <p:cNvPr id="15" name="Shape 12"/>
          <p:cNvSpPr/>
          <p:nvPr/>
        </p:nvSpPr>
        <p:spPr>
          <a:xfrm>
            <a:off x="3931920" y="212140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</p:sp>
      <p:sp>
        <p:nvSpPr>
          <p:cNvPr id="16" name="Text 13"/>
          <p:cNvSpPr/>
          <p:nvPr/>
        </p:nvSpPr>
        <p:spPr>
          <a:xfrm>
            <a:off x="3931920" y="2130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041648" y="245059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 se precisa de licença ambiental. Perdeu enxame por falta de orientação. Não tem canal para vender o excedente.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931920" y="3511296"/>
            <a:ext cx="4937760" cy="1261872"/>
          </a:xfrm>
          <a:prstGeom prst="roundRect">
            <a:avLst>
              <a:gd name="adj" fmla="val 5072"/>
            </a:avLst>
          </a:prstGeom>
          <a:solidFill>
            <a:srgbClr val="FAF7F0"/>
          </a:solidFill>
          <a:ln/>
        </p:spPr>
      </p:sp>
      <p:sp>
        <p:nvSpPr>
          <p:cNvPr id="19" name="Shape 16"/>
          <p:cNvSpPr/>
          <p:nvPr/>
        </p:nvSpPr>
        <p:spPr>
          <a:xfrm>
            <a:off x="3931920" y="3511296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B8651A"/>
          </a:solidFill>
          <a:ln/>
        </p:spPr>
      </p:sp>
      <p:sp>
        <p:nvSpPr>
          <p:cNvPr id="20" name="Text 17"/>
          <p:cNvSpPr/>
          <p:nvPr/>
        </p:nvSpPr>
        <p:spPr>
          <a:xfrm>
            <a:off x="3931920" y="3520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041648" y="3840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Regularizar o meliponário. Aumentar renda vendendo diretamente. Aprender com criadores mais experientes.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D0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Meliponá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ABELHAS NATIVAS DE JOINVILLE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espécies que a Meliponá protege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554480"/>
            <a:ext cx="1920240" cy="1920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" y="2926080"/>
            <a:ext cx="1920240" cy="548640"/>
          </a:xfrm>
          <a:prstGeom prst="rect">
            <a:avLst/>
          </a:prstGeom>
          <a:solidFill>
            <a:srgbClr val="1A0D04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47472" y="29443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Jataí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47472" y="32552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C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angustula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47472" y="3547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Dócil, urbana,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B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medicinal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96312" y="1554480"/>
            <a:ext cx="1920240" cy="19202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496312" y="2926080"/>
            <a:ext cx="1920240" cy="548640"/>
          </a:xfrm>
          <a:prstGeom prst="rect">
            <a:avLst/>
          </a:prstGeom>
          <a:solidFill>
            <a:srgbClr val="1A0D04">
              <a:alpha val="8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2496312" y="29443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Mandaçaia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496312" y="32552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C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quadrifasciata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496312" y="3547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amarelas,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B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encorpado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45152" y="1554480"/>
            <a:ext cx="192024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645152" y="2926080"/>
            <a:ext cx="1920240" cy="548640"/>
          </a:xfrm>
          <a:prstGeom prst="rect">
            <a:avLst/>
          </a:prstGeom>
          <a:solidFill>
            <a:srgbClr val="1A0D04">
              <a:alpha val="8000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4645152" y="29443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Bugia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645152" y="32552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C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mondury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645152" y="3547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Atlântica,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B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aromático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93992" y="1554480"/>
            <a:ext cx="1920240" cy="192024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793992" y="2926080"/>
            <a:ext cx="1920240" cy="548640"/>
          </a:xfrm>
          <a:prstGeom prst="rect">
            <a:avLst/>
          </a:prstGeom>
          <a:solidFill>
            <a:srgbClr val="1A0D04">
              <a:alpha val="8000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6793992" y="29443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Mirim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793992" y="32552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C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Plebeia sp.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6793992" y="3547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Minúscula,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B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resistente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6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Meliponá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E MERCADO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meliponicultores entrevistados.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2B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números confirmam a dor.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99339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tiveram problema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5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regularização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8745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99339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560320" y="27889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média de impacto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5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problema (1–5)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99339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663440" y="27889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usariam uma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5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digital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87452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99339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766560" y="27889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usam nenhuma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5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similar hoje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7368"/>
            </a:avLst>
          </a:prstGeom>
          <a:solidFill>
            <a:srgbClr val="2B1B0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40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Disposição média de pagamento: </a:t>
            </a:r>
            <a:r>
              <a:rPr lang="en-US" sz="12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R$ 24,50/mês  </a:t>
            </a: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Plano Pro previsto: </a:t>
            </a:r>
            <a:r>
              <a:rPr lang="en-US" sz="12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R$ 29,00/mês  </a:t>
            </a: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67% preferem site responsivo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6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Meliponá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</a:t>
            </a:r>
            <a:r>
              <a:rPr lang="en-US" sz="2200" b="1" dirty="0" smtClean="0">
                <a:solidFill>
                  <a:srgbClr val="2B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" y="1417320"/>
            <a:ext cx="1737360" cy="1417320"/>
          </a:xfrm>
          <a:prstGeom prst="rect">
            <a:avLst/>
          </a:prstGeom>
          <a:solidFill>
            <a:srgbClr val="F5EFE5"/>
          </a:solidFill>
          <a:ln w="6350">
            <a:solidFill>
              <a:srgbClr val="E5DF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1463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46888" y="1664208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IBAMA, IMA-SC,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associações de SC,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93392" y="1417320"/>
            <a:ext cx="1737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463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57400" y="1664208"/>
            <a:ext cx="1609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Curadoria de leis,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moderação da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e marketplace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03904" y="1417320"/>
            <a:ext cx="1920240" cy="1417320"/>
          </a:xfrm>
          <a:prstGeom prst="rect">
            <a:avLst/>
          </a:prstGeom>
          <a:solidFill>
            <a:srgbClr val="FDF3E3"/>
          </a:solidFill>
          <a:ln w="6350">
            <a:solidFill>
              <a:srgbClr val="E5DF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7912" y="1463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Prop. de Valor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67912" y="1664208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simples,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ativa,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local, IA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97296" y="1417320"/>
            <a:ext cx="1645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61304" y="1463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61304" y="1664208"/>
            <a:ext cx="1517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Autoatendimento,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fórum entre pares,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dedicado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16368" y="1417320"/>
            <a:ext cx="1444752" cy="1417320"/>
          </a:xfrm>
          <a:prstGeom prst="rect">
            <a:avLst/>
          </a:prstGeom>
          <a:solidFill>
            <a:srgbClr val="F5EFE5"/>
          </a:solidFill>
          <a:ln w="6350">
            <a:solidFill>
              <a:srgbClr val="E5DF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0376" y="146304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580376" y="1664208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Amadores, profissionais,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associações,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compradores locais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93392" y="2157984"/>
            <a:ext cx="1737360" cy="676656"/>
          </a:xfrm>
          <a:prstGeom prst="rect">
            <a:avLst/>
          </a:prstGeom>
          <a:solidFill>
            <a:srgbClr val="F0EBE3"/>
          </a:solidFill>
          <a:ln w="6350">
            <a:solidFill>
              <a:srgbClr val="E5DF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22037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057400" y="2404872"/>
            <a:ext cx="16093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técnica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97296" y="2157984"/>
            <a:ext cx="1645920" cy="676656"/>
          </a:xfrm>
          <a:prstGeom prst="rect">
            <a:avLst/>
          </a:prstGeom>
          <a:solidFill>
            <a:srgbClr val="F0EBE3"/>
          </a:solidFill>
          <a:ln w="6350">
            <a:solidFill>
              <a:srgbClr val="E5DF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61304" y="22037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861304" y="2404872"/>
            <a:ext cx="1517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responsivo,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sociais,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feiras locais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" y="2926080"/>
            <a:ext cx="4251960" cy="713232"/>
          </a:xfrm>
          <a:prstGeom prst="rect">
            <a:avLst/>
          </a:prstGeom>
          <a:solidFill>
            <a:srgbClr val="FFF8F0"/>
          </a:solidFill>
          <a:ln w="6350">
            <a:solidFill>
              <a:srgbClr val="E5DF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" y="297180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6888" y="3172968"/>
            <a:ext cx="4123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equipe,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local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26280" y="2926080"/>
            <a:ext cx="4434840" cy="713232"/>
          </a:xfrm>
          <a:prstGeom prst="rect">
            <a:avLst/>
          </a:prstGeom>
          <a:solidFill>
            <a:srgbClr val="FFF3E0"/>
          </a:solidFill>
          <a:ln w="6350">
            <a:solidFill>
              <a:srgbClr val="E5DF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0288" y="297180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90288" y="3172968"/>
            <a:ext cx="43068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Pro (R$29/mês) · Destaque marketplace · Planos institucionais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D0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Meliponá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FREEMIUM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Grátis para entrar.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R$ 29/mês para crescer.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2D1A0A"/>
          </a:solidFill>
          <a:ln w="6350">
            <a:solidFill>
              <a:srgbClr val="4A3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299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Comunidade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290779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99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182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Perfil de meliponicultor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6210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Fórum e biblioteca de leis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599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Até 3 anúncios no marketplace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23260" y="191788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3A2208"/>
          </a:solidFill>
          <a:ln w="19050">
            <a:solidFill>
              <a:srgbClr val="E08A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1755648"/>
            <a:ext cx="1600200" cy="274320"/>
          </a:xfrm>
          <a:prstGeom prst="roundRect">
            <a:avLst>
              <a:gd name="adj" fmla="val 20000"/>
            </a:avLst>
          </a:prstGeom>
          <a:solidFill>
            <a:srgbClr val="E08A2C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17556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Mais escolhido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37560" y="20299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23957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R$ 29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206240" y="25923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99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/mês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4700" y="28895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Tudo do plano Comunidade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470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Anúncios ilimitados com destaque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4700" y="34610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Relatórios de manejo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712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Alertas de licenciamento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9639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Assistente de IA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19202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2D1A0A"/>
          </a:solidFill>
          <a:ln w="6350">
            <a:solidFill>
              <a:srgbClr val="4A3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20299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Associação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72200" y="23957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 consulta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172200" y="3182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Múltiplos meliponários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36210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Relatórios para órgãos públicos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0599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Suporte dedicado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6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Meliponá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SMART — 12 MESES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esperamos alcançar no primeiro ano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411480"/>
            <a:ext cx="3017520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411480"/>
            <a:ext cx="3017520" cy="4572000"/>
          </a:xfrm>
          <a:prstGeom prst="rect">
            <a:avLst/>
          </a:prstGeom>
          <a:solidFill>
            <a:srgbClr val="FAF7F0">
              <a:alpha val="7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463040"/>
            <a:ext cx="525780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1810512"/>
            <a:ext cx="54864" cy="411480"/>
          </a:xfrm>
          <a:prstGeom prst="roundRect">
            <a:avLst/>
          </a:prstGeom>
          <a:solidFill>
            <a:srgbClr val="E08A2C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51790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15179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4400" y="17373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meliponicultores cadastrados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205740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parcerias com associações locais e presença em feiras regionais de Joinville e Norte de SC.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1480" y="2633472"/>
            <a:ext cx="525780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1480" y="2980944"/>
            <a:ext cx="54864" cy="411480"/>
          </a:xfrm>
          <a:prstGeom prst="roundRect">
            <a:avLst/>
          </a:prstGeom>
          <a:solidFill>
            <a:srgbClr val="E08A2C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26883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14400" y="26883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14400" y="29077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 convertidos para plano Pro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14400" y="32278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a 75 assinantes pagantes, gerando receita recorrente de R$ 2.175/mês.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11480" y="3803904"/>
            <a:ext cx="525780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11480" y="4151376"/>
            <a:ext cx="54864" cy="411480"/>
          </a:xfrm>
          <a:prstGeom prst="roundRect">
            <a:avLst/>
          </a:prstGeom>
          <a:solidFill>
            <a:srgbClr val="E08A2C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" y="38587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14400" y="3858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meses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14400" y="40782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transações no marketplace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14400" y="439826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média ≥ 4,5 de 5 entre compradores. Valida a proposta de valor de comunidade local.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6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Meliponá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DIGITAL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vamos crescer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453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1444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e Facebook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96112" y="17099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educativo sobre espécies, manejo e regulamentação. Cases de criadores da comunidade.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39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2130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 local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96112" y="23957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para "licença meliponário Joinville", "criar abelha jataí SC" e similares.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825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2816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E-mail marketing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30815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mensal com atualizações de legislação e destaques do marketplace.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511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6112" y="3502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1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Parcerias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96112" y="3767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Associações de meliponicultores, secretarias de meio ambiente e feiras locais.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0" y="123444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FAF7F0"/>
          </a:solidFill>
          <a:ln w="6350">
            <a:solidFill>
              <a:srgbClr val="E5DF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1234440"/>
            <a:ext cx="3611880" cy="292608"/>
          </a:xfrm>
          <a:prstGeom prst="roundRect">
            <a:avLst>
              <a:gd name="adj" fmla="val 31250"/>
            </a:avLst>
          </a:prstGeom>
          <a:solidFill>
            <a:srgbClr val="2B1B0F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126187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instagram.com/meliponá_joinville</a:t>
            </a:r>
            <a:endParaRPr lang="en-US" sz="8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03520" y="1527048"/>
            <a:ext cx="3611880" cy="14630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394960" y="3017520"/>
            <a:ext cx="3429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🐝 Seu meliponário está em dia com a lei?
</a:t>
            </a:r>
            <a:r>
              <a:rPr lang="en-US" sz="950" dirty="0">
                <a:solidFill>
                  <a:srgbClr val="2B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criadores de Joinville têm medo de multa — mas a regularização é mais simples do que parece. Na Meliponá você encontra tudo explicado, sem juridiquês.
</a:t>
            </a:r>
            <a:r>
              <a:rPr lang="en-US" sz="950" b="1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Cadastre-se grátis. Link na bio.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D0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Meliponá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SUSTENTABILIDADE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· Cloud · Impacto ambiental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2D1A0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54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8196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31720" y="15819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Backlog, validação com usuários, visão de negócio.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2D1A0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304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5694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3172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Sprints, remoção de impedimentos, ritmo da equipe.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008376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2D1A0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0540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Designer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3192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31720" y="30815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Protótipo, identidade visual, documentação técnica.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141732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2D1A0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536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5C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SUSTENTABILIDADE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834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🌿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0680" y="1956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40680" y="221284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Preservação de abelhas nativas, polinizadoras essenciais da Mata Atlântica.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8348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0680" y="26700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40680" y="292608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de criadores amadores, reduzindo risco de multas e abandono da atividade.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834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3383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Econômico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40680" y="36393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direta sem intermediários fortalece a economia local de Joinville e região.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8348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☁️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40680" y="4096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Escalável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40680" y="435254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 auto-scaling. KPIs: uptime ≥99,5%, conversão ≥15%, resposta &lt;2s.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600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D0600">
              <a:alpha val="8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548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FINAL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841248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Meliponá existe para que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meliponicultor de Joinville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enfrente isso sozinho.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02920" y="2514600"/>
            <a:ext cx="3657600" cy="0"/>
          </a:xfrm>
          <a:prstGeom prst="line">
            <a:avLst/>
          </a:prstGeom>
          <a:noFill/>
          <a:ln w="15240">
            <a:solidFill>
              <a:srgbClr val="E08A2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6700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🐝  Problema real, validado com 18 meliponicultores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31455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Solução: legislação + comunidade + marketplace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362102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Freemium SaaS · R$ 29/mês · Meta: 75 assinantes em 12 meses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4096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Impacto: preservação de abelhas nativas da Mata Atlântica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4572000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E08A2C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5720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Buscamos validação, adesão institucional e mentoria 🙏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94960" y="45262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Meliponá · Joinville, SC · </a:t>
            </a:r>
            <a:r>
              <a:rPr lang="en-US" sz="1000" i="1" dirty="0" err="1" smtClean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contato@melipona.acom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412480" y="4846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999</Words>
  <Application>Microsoft Office PowerPoint</Application>
  <PresentationFormat>Apresentação na tela (16:9)</PresentationFormat>
  <Paragraphs>228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Meliponá — Pitch Deck</dc:title>
  <dc:subject>PptxGenJS Presentation</dc:subject>
  <dc:creator>Meliponá</dc:creator>
  <cp:lastModifiedBy>ANA PAULA DOS REIS</cp:lastModifiedBy>
  <cp:revision>2</cp:revision>
  <dcterms:created xsi:type="dcterms:W3CDTF">2026-06-18T20:21:07Z</dcterms:created>
  <dcterms:modified xsi:type="dcterms:W3CDTF">2026-06-18T20:32:28Z</dcterms:modified>
</cp:coreProperties>
</file>